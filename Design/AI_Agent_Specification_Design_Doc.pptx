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0"/>
            <a:ext cx="36576" cy="6858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2331720"/>
            <a:ext cx="2103120" cy="2103120"/>
          </a:xfrm>
          <a:prstGeom prst="roundRect">
            <a:avLst>
              <a:gd name="adj" fmla="val 7826"/>
            </a:avLst>
          </a:prstGeom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1828800"/>
            <a:ext cx="3108960" cy="3108960"/>
          </a:xfrm>
          <a:prstGeom prst="roundRect">
            <a:avLst>
              <a:gd name="adj" fmla="val 5294"/>
            </a:avLst>
          </a:prstGeom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64040" y="1325880"/>
            <a:ext cx="4114800" cy="4114800"/>
          </a:xfrm>
          <a:prstGeom prst="roundRect">
            <a:avLst>
              <a:gd name="adj" fmla="val 4000"/>
            </a:avLst>
          </a:prstGeom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 |  AI AGENT ENABLEMENT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Specification &amp; Code Generator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31272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Document — v0.1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specification, code-generation architecture, and execution plan required to design and build the platform — from schema to generated, deployable agent.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84632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DOCUMENT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Purpose, scope, and how to read this design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801368"/>
            <a:ext cx="541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the execution-ready design for a specification standard that describes AI agents — and the generator that turns a validated specification into runnable agent code, tests, and documentation, in the way OpenAPI generators produce API clients and servers.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92608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28269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3182112"/>
            <a:ext cx="517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specification schema (structure, fields, validation rules)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73989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3639312"/>
            <a:ext cx="517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codegen pipeline: parsing, validation, IR, templates, target adapters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19709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" y="4096512"/>
            <a:ext cx="517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artifact structure: code, tests, docs, deployment manifests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65429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" y="4553712"/>
            <a:ext cx="517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testing, and governance integration for generated agents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78728" y="150876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(v1)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8728" y="1856232"/>
            <a:ext cx="82296" cy="82296"/>
          </a:xfrm>
          <a:prstGeom prst="ellipse">
            <a:avLst/>
          </a:prstGeom>
          <a:solidFill>
            <a:srgbClr val="6E7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516472" y="1755648"/>
            <a:ext cx="517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or benchmarking specific foundation models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78728" y="2313432"/>
            <a:ext cx="82296" cy="82296"/>
          </a:xfrm>
          <a:prstGeom prst="ellipse">
            <a:avLst/>
          </a:prstGeom>
          <a:solidFill>
            <a:srgbClr val="6E7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516472" y="2212848"/>
            <a:ext cx="517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visual, no-code spec authoring UI (CLI/editor plugin only in v1)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8728" y="2770632"/>
            <a:ext cx="82296" cy="82296"/>
          </a:xfrm>
          <a:prstGeom prst="ellipse">
            <a:avLst/>
          </a:prstGeom>
          <a:solidFill>
            <a:srgbClr val="6E7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516472" y="2670048"/>
            <a:ext cx="517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existing hand-built agents (handled as a separate workstream)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78728" y="3227832"/>
            <a:ext cx="82296" cy="82296"/>
          </a:xfrm>
          <a:prstGeom prst="ellipse">
            <a:avLst/>
          </a:prstGeom>
          <a:solidFill>
            <a:srgbClr val="6E7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516472" y="3127248"/>
            <a:ext cx="517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protocols between generated agents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78728" y="365760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78728" y="3959352"/>
            <a:ext cx="541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engineering, architecture, model risk / compliance, and delivery leads who will build, review, or adopt the specification and generator.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architecture: from specification to running, governed agent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032345" cy="1554480"/>
          </a:xfrm>
          <a:prstGeom prst="roundRect">
            <a:avLst>
              <a:gd name="adj" fmla="val 4118"/>
            </a:avLst>
          </a:prstGeom>
          <a:solidFill>
            <a:srgbClr val="EAF1FD"/>
          </a:solidFill>
          <a:ln/>
        </p:spPr>
      </p:sp>
      <p:sp>
        <p:nvSpPr>
          <p:cNvPr id="5" name="Text 3"/>
          <p:cNvSpPr/>
          <p:nvPr/>
        </p:nvSpPr>
        <p:spPr>
          <a:xfrm>
            <a:off x="630936" y="1956816"/>
            <a:ext cx="1776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0936" y="2304288"/>
            <a:ext cx="177631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written in YAML/JSON against the schema, via CLI or editor plugin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16977" y="24231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91297" y="1828800"/>
            <a:ext cx="2032345" cy="1554480"/>
          </a:xfrm>
          <a:prstGeom prst="roundRect">
            <a:avLst>
              <a:gd name="adj" fmla="val 4118"/>
            </a:avLst>
          </a:prstGeom>
          <a:solidFill>
            <a:srgbClr val="EAF1FD"/>
          </a:solidFill>
          <a:ln/>
        </p:spPr>
      </p:sp>
      <p:sp>
        <p:nvSpPr>
          <p:cNvPr id="9" name="Text 7"/>
          <p:cNvSpPr/>
          <p:nvPr/>
        </p:nvSpPr>
        <p:spPr>
          <a:xfrm>
            <a:off x="2919313" y="1956816"/>
            <a:ext cx="1776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19313" y="2304288"/>
            <a:ext cx="177631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policy validation; blocks non-compliant specs before build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05355" y="24231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79675" y="1828800"/>
            <a:ext cx="2032345" cy="1554480"/>
          </a:xfrm>
          <a:prstGeom prst="roundRect">
            <a:avLst>
              <a:gd name="adj" fmla="val 4118"/>
            </a:avLst>
          </a:prstGeom>
          <a:solidFill>
            <a:srgbClr val="141B4D"/>
          </a:solidFill>
          <a:ln/>
        </p:spPr>
      </p:sp>
      <p:sp>
        <p:nvSpPr>
          <p:cNvPr id="13" name="Text 11"/>
          <p:cNvSpPr/>
          <p:nvPr/>
        </p:nvSpPr>
        <p:spPr>
          <a:xfrm>
            <a:off x="5207691" y="1956816"/>
            <a:ext cx="1776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07691" y="2304288"/>
            <a:ext cx="177631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 engine produces the agent scaffold, tests, and docs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93732" y="24231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68052" y="1828800"/>
            <a:ext cx="2032345" cy="1554480"/>
          </a:xfrm>
          <a:prstGeom prst="roundRect">
            <a:avLst>
              <a:gd name="adj" fmla="val 4118"/>
            </a:avLst>
          </a:prstGeom>
          <a:solidFill>
            <a:srgbClr val="EAF1FD"/>
          </a:solidFill>
          <a:ln/>
        </p:spPr>
      </p:sp>
      <p:sp>
        <p:nvSpPr>
          <p:cNvPr id="17" name="Text 15"/>
          <p:cNvSpPr/>
          <p:nvPr/>
        </p:nvSpPr>
        <p:spPr>
          <a:xfrm>
            <a:off x="7496068" y="1956816"/>
            <a:ext cx="1776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Deploy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6068" y="2304288"/>
            <a:ext cx="177631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SDLC and governance review, then CI/CD deployment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382110" y="24231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656430" y="1828800"/>
            <a:ext cx="2032345" cy="1554480"/>
          </a:xfrm>
          <a:prstGeom prst="roundRect">
            <a:avLst>
              <a:gd name="adj" fmla="val 4118"/>
            </a:avLst>
          </a:prstGeom>
          <a:solidFill>
            <a:srgbClr val="EAF1FD"/>
          </a:solidFill>
          <a:ln/>
        </p:spPr>
      </p:sp>
      <p:sp>
        <p:nvSpPr>
          <p:cNvPr id="21" name="Text 19"/>
          <p:cNvSpPr/>
          <p:nvPr/>
        </p:nvSpPr>
        <p:spPr>
          <a:xfrm>
            <a:off x="9784446" y="1956816"/>
            <a:ext cx="1776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Observe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784446" y="2304288"/>
            <a:ext cx="177631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executes; telemetry and evals stream back, tied to spec ID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749040"/>
            <a:ext cx="11185855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895344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CROSS-CUTTING: GOVERNANCE &amp; OPERATIONS PLANE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" y="4279392"/>
            <a:ext cx="247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57200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(every spec, versioned)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82264" y="4279392"/>
            <a:ext cx="247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82264" y="457200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(schema + business rules)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33008" y="4279392"/>
            <a:ext cx="247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33008" y="457200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(validate before merge)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983751" y="4279392"/>
            <a:ext cx="247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Telemetry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83751" y="457200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(runtime → spec ID)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principles the schema is built 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15258" cy="1691640"/>
          </a:xfrm>
          <a:prstGeom prst="roundRect">
            <a:avLst>
              <a:gd name="adj" fmla="val 3784"/>
            </a:avLst>
          </a:prstGeom>
          <a:solidFill>
            <a:srgbClr val="EAF1FD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8308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describes what the agent is and may do — not how the generated code is implemented.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8218" y="1600200"/>
            <a:ext cx="3515258" cy="1691640"/>
          </a:xfrm>
          <a:prstGeom prst="roundRect">
            <a:avLst>
              <a:gd name="adj" fmla="val 3784"/>
            </a:avLst>
          </a:prstGeom>
          <a:solidFill>
            <a:srgbClr val="EAF1FD"/>
          </a:solidFill>
          <a:ln/>
        </p:spPr>
      </p:sp>
      <p:sp>
        <p:nvSpPr>
          <p:cNvPr id="10" name="Shape 8"/>
          <p:cNvSpPr/>
          <p:nvPr/>
        </p:nvSpPr>
        <p:spPr>
          <a:xfrm>
            <a:off x="4521098" y="178308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2109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1098" y="224028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Machine-validated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1098" y="256032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validity (schema) and business validity (policy) are both checkable before any code is generated.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73517" y="1600200"/>
            <a:ext cx="3515258" cy="1691640"/>
          </a:xfrm>
          <a:prstGeom prst="roundRect">
            <a:avLst>
              <a:gd name="adj" fmla="val 3784"/>
            </a:avLst>
          </a:prstGeom>
          <a:solidFill>
            <a:srgbClr val="EAF1F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6397" y="178308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56397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56397" y="224028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56397" y="256032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makes no assumption about a specific orchestration library or model provider; adapters translate it into a target stack.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566160"/>
            <a:ext cx="3515258" cy="1691640"/>
          </a:xfrm>
          <a:prstGeom prst="roundRect">
            <a:avLst>
              <a:gd name="adj" fmla="val 3784"/>
            </a:avLst>
          </a:prstGeom>
          <a:solidFill>
            <a:srgbClr val="EAF1FD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74904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420624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&amp; backward-compatible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5800" y="452628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schema itself and every individual agent spec are versioned, following semantic versioning rules.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8218" y="3566160"/>
            <a:ext cx="3515258" cy="1691640"/>
          </a:xfrm>
          <a:prstGeom prst="roundRect">
            <a:avLst>
              <a:gd name="adj" fmla="val 3784"/>
            </a:avLst>
          </a:prstGeom>
          <a:solidFill>
            <a:srgbClr val="EAF1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1098" y="374904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21098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1098" y="420624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1098" y="452628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Tool, prompt, and guardrail definitions can be referenced and reused across multiple agent specs.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73517" y="3566160"/>
            <a:ext cx="3515258" cy="1691640"/>
          </a:xfrm>
          <a:prstGeom prst="roundRect">
            <a:avLst>
              <a:gd name="adj" fmla="val 3784"/>
            </a:avLst>
          </a:prstGeom>
          <a:solidFill>
            <a:srgbClr val="EAF1FD"/>
          </a:solidFill>
          <a:ln/>
        </p:spPr>
      </p:sp>
      <p:sp>
        <p:nvSpPr>
          <p:cNvPr id="30" name="Shape 28"/>
          <p:cNvSpPr/>
          <p:nvPr/>
        </p:nvSpPr>
        <p:spPr>
          <a:xfrm>
            <a:off x="8356397" y="374904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356397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56397" y="420624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construction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56397" y="452628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Credentials, data access, and autonomy limits are explicit fields — never implicit in code the generator writes.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map: twelve top-level sections under one agent spec root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502920"/>
          </a:xfrm>
          <a:prstGeom prst="roundRect">
            <a:avLst>
              <a:gd name="adj" fmla="val 10909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agentSpec  (root document — specVersion, info, …)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2625014" cy="932688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212848"/>
            <a:ext cx="0" cy="896112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313432"/>
            <a:ext cx="235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" y="2633472"/>
            <a:ext cx="23506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ownership, lifecycle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56534" y="2194560"/>
            <a:ext cx="2625014" cy="932688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6534" y="2212848"/>
            <a:ext cx="0" cy="896112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1126" y="2313432"/>
            <a:ext cx="235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capabilities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21126" y="2633472"/>
            <a:ext cx="23506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tasks &amp; scope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0148" y="2194560"/>
            <a:ext cx="2625014" cy="932688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0148" y="2212848"/>
            <a:ext cx="0" cy="896112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4740" y="2313432"/>
            <a:ext cx="235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74740" y="2633472"/>
            <a:ext cx="23506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Callable actions &amp; schemas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63761" y="2194560"/>
            <a:ext cx="2625014" cy="932688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63761" y="2212848"/>
            <a:ext cx="0" cy="896112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28353" y="2313432"/>
            <a:ext cx="235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dataContracts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28353" y="2633472"/>
            <a:ext cx="23506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classification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328416"/>
            <a:ext cx="2625014" cy="932688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346704"/>
            <a:ext cx="0" cy="896112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3447288"/>
            <a:ext cx="235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7512" y="3767328"/>
            <a:ext cx="23506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params, planning strategy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56534" y="3328416"/>
            <a:ext cx="2625014" cy="932688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56534" y="3346704"/>
            <a:ext cx="0" cy="896112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1126" y="3447288"/>
            <a:ext cx="235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21126" y="3767328"/>
            <a:ext cx="23506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scope &amp; persistence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0148" y="3328416"/>
            <a:ext cx="2625014" cy="932688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0148" y="3346704"/>
            <a:ext cx="0" cy="896112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74740" y="3447288"/>
            <a:ext cx="235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374740" y="3767328"/>
            <a:ext cx="23506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&amp; refusal conditions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063761" y="3328416"/>
            <a:ext cx="2625014" cy="932688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63761" y="3346704"/>
            <a:ext cx="0" cy="896112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28353" y="3447288"/>
            <a:ext cx="235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228353" y="3767328"/>
            <a:ext cx="23506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scoped permissions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4462272"/>
            <a:ext cx="2625014" cy="932688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4480560"/>
            <a:ext cx="0" cy="896112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" y="4581144"/>
            <a:ext cx="235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humanInLoop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67512" y="4901184"/>
            <a:ext cx="23506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&amp; escalation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356534" y="4462272"/>
            <a:ext cx="2625014" cy="932688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56534" y="4480560"/>
            <a:ext cx="0" cy="896112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21126" y="4581144"/>
            <a:ext cx="235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observability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21126" y="4901184"/>
            <a:ext cx="23506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tracing, evals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10148" y="4462272"/>
            <a:ext cx="2625014" cy="932688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0148" y="4480560"/>
            <a:ext cx="0" cy="896112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4740" y="4581144"/>
            <a:ext cx="235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errorHandling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374740" y="4901184"/>
            <a:ext cx="23506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&amp; fallback behavior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063761" y="4462272"/>
            <a:ext cx="2625014" cy="932688"/>
          </a:xfrm>
          <a:prstGeom prst="roundRect">
            <a:avLst>
              <a:gd name="adj" fmla="val 5882"/>
            </a:avLst>
          </a:prstGeom>
          <a:solidFill>
            <a:srgbClr val="EAF1FD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63761" y="4480560"/>
            <a:ext cx="0" cy="896112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28353" y="4581144"/>
            <a:ext cx="235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9228353" y="4901184"/>
            <a:ext cx="235069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&amp; versioning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 &amp; capabilities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64792"/>
          <a:ext cx="5410048" cy="914400"/>
        </p:xfrm>
        <a:graphic>
          <a:graphicData uri="http://schemas.openxmlformats.org/drawingml/2006/table">
            <a:tbl>
              <a:tblPr/>
              <a:tblGrid>
                <a:gridCol w="1027909"/>
                <a:gridCol w="865608"/>
                <a:gridCol w="432804"/>
                <a:gridCol w="30837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Req.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specVersion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Version of the spec schema this document conforms to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Unique, stable identifier for the agent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version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semver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Version of this specific agent definition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owner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Accountable team or individual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description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Plain-language statement of business purpose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lifecycle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enum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draft │ pilot │ production │ deprecated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78728" y="141732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capabilities[]</a:t>
            </a:r>
            <a:endParaRPr lang="en-US" sz="12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764792"/>
          <a:ext cx="5410048" cy="914400"/>
        </p:xfrm>
        <a:graphic>
          <a:graphicData uri="http://schemas.openxmlformats.org/drawingml/2006/table">
            <a:tbl>
              <a:tblPr/>
              <a:tblGrid>
                <a:gridCol w="1027909"/>
                <a:gridCol w="865608"/>
                <a:gridCol w="432804"/>
                <a:gridCol w="30837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Req.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Unique capability identifier within the agent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description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What task this capability performs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inputs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JSON Schema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Expected structure of task input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outputs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JSON Schema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Expected structure of task result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scopeBoundaries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7488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Explicit statement of what is out of scope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dataContracts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tools[]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64792"/>
          <a:ext cx="5410048" cy="914400"/>
        </p:xfrm>
        <a:graphic>
          <a:graphicData uri="http://schemas.openxmlformats.org/drawingml/2006/table">
            <a:tbl>
              <a:tblPr/>
              <a:tblGrid>
                <a:gridCol w="1027909"/>
                <a:gridCol w="865608"/>
                <a:gridCol w="432804"/>
                <a:gridCol w="30837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Req.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Unique tool identifier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enum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function │ http │ mcp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schema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JSON Schema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Input/output contract for the tool call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sideEffects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enum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none │ read │ write │ irreversible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rateLimit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object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7488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Calls-per-interval ceiling for the tool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authRef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7488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Reference to the scope granted in auth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78728" y="141732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dataContracts[]</a:t>
            </a:r>
            <a:endParaRPr lang="en-US" sz="12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764792"/>
          <a:ext cx="5410048" cy="914400"/>
        </p:xfrm>
        <a:graphic>
          <a:graphicData uri="http://schemas.openxmlformats.org/drawingml/2006/table">
            <a:tbl>
              <a:tblPr/>
              <a:tblGrid>
                <a:gridCol w="1027909"/>
                <a:gridCol w="865608"/>
                <a:gridCol w="432804"/>
                <a:gridCol w="30837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Req.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source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System of record the agent reads or writes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classification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enum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public │ internal │ confidential │ restricted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allowedOperations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array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read │ write │ delete, explicitly listed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retention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duration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How long retrieved data may be retained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memory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64792"/>
          <a:ext cx="5410048" cy="914400"/>
        </p:xfrm>
        <a:graphic>
          <a:graphicData uri="http://schemas.openxmlformats.org/drawingml/2006/table">
            <a:tbl>
              <a:tblPr/>
              <a:tblGrid>
                <a:gridCol w="1027909"/>
                <a:gridCol w="865608"/>
                <a:gridCol w="432804"/>
                <a:gridCol w="30837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Req.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provider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Model provider or internal gateway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Model identifier / version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parameters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object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7488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Temperature, max tokens, and similar settings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promptTemplateRef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Reference to the versioned prompt template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planningStrategy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enum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single-shot │ react │ plan-execute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78728" y="141732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764792"/>
          <a:ext cx="5410048" cy="914400"/>
        </p:xfrm>
        <a:graphic>
          <a:graphicData uri="http://schemas.openxmlformats.org/drawingml/2006/table">
            <a:tbl>
              <a:tblPr/>
              <a:tblGrid>
                <a:gridCol w="1027909"/>
                <a:gridCol w="865608"/>
                <a:gridCol w="432804"/>
                <a:gridCol w="30837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Req.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enum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none │ session │ long-term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scope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What the memory is keyed on (user, case, etc.)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ttl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duration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7488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Time-to-live before memory expires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persistenceRef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7488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Reference to the backing store, if long-term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&amp; auth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64792"/>
          <a:ext cx="5410048" cy="914400"/>
        </p:xfrm>
        <a:graphic>
          <a:graphicData uri="http://schemas.openxmlformats.org/drawingml/2006/table">
            <a:tbl>
              <a:tblPr/>
              <a:tblGrid>
                <a:gridCol w="1027909"/>
                <a:gridCol w="865608"/>
                <a:gridCol w="432804"/>
                <a:gridCol w="30837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Req.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contentPolicies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array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Named content/behavioral policies enforced at runtime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businessRules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array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7488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Domain-specific constraints (e.g. dollar limits)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refusalConditions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array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Conditions under which the agent must decline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maxAutonomySteps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integer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7488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Ceiling on unattended actions before checkpoint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78728" y="141732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764792"/>
          <a:ext cx="5410048" cy="914400"/>
        </p:xfrm>
        <a:graphic>
          <a:graphicData uri="http://schemas.openxmlformats.org/drawingml/2006/table">
            <a:tbl>
              <a:tblPr/>
              <a:tblGrid>
                <a:gridCol w="1027909"/>
                <a:gridCol w="865608"/>
                <a:gridCol w="432804"/>
                <a:gridCol w="30837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Req.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identityRef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Service identity the agent runs as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credentialsRef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Secret-manager reference — never inline secrets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scopesPerTool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map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Explicit permission scope granted per tool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humanInLoop &amp; observability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humanInLoop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64792"/>
          <a:ext cx="5410048" cy="914400"/>
        </p:xfrm>
        <a:graphic>
          <a:graphicData uri="http://schemas.openxmlformats.org/drawingml/2006/table">
            <a:tbl>
              <a:tblPr/>
              <a:tblGrid>
                <a:gridCol w="1027909"/>
                <a:gridCol w="865608"/>
                <a:gridCol w="432804"/>
                <a:gridCol w="30837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Req.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checkpoints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array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7488"/>
                          </a:solidFill>
                        </a:rPr>
                        <a:t>Cond.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Actions requiring approval before execution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escalationPath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Team or role notified on escalation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overrideAuthority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Role authorized to override agent behavior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78728" y="141732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764792"/>
          <a:ext cx="5410048" cy="914400"/>
        </p:xfrm>
        <a:graphic>
          <a:graphicData uri="http://schemas.openxmlformats.org/drawingml/2006/table">
            <a:tbl>
              <a:tblPr/>
              <a:tblGrid>
                <a:gridCol w="1027909"/>
                <a:gridCol w="865608"/>
                <a:gridCol w="432804"/>
                <a:gridCol w="30837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Req.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logging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object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Log level, destination, and fields captured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tracing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object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Distributed trace propagation settings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metrics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array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Runtime metrics emitted (latency, tool errors, etc.)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evalSuiteRef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Behavioral test suite required before production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errorHandling &amp; deployment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errorHandling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64792"/>
          <a:ext cx="5410048" cy="914400"/>
        </p:xfrm>
        <a:graphic>
          <a:graphicData uri="http://schemas.openxmlformats.org/drawingml/2006/table">
            <a:tbl>
              <a:tblPr/>
              <a:tblGrid>
                <a:gridCol w="1027909"/>
                <a:gridCol w="865608"/>
                <a:gridCol w="432804"/>
                <a:gridCol w="30837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Req.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onToolFailure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enum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retry │ fallback │ escalate │ abort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onTimeout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enum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retry │ fallback │ escalate │ abort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onLowConfidence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enum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fallback │ escalate │ abstain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fallbackResponse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7488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Message returned when a fallback path is taken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78728" y="141732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764792"/>
          <a:ext cx="5410048" cy="914400"/>
        </p:xfrm>
        <a:graphic>
          <a:graphicData uri="http://schemas.openxmlformats.org/drawingml/2006/table">
            <a:tbl>
              <a:tblPr/>
              <a:tblGrid>
                <a:gridCol w="1027909"/>
                <a:gridCol w="865608"/>
                <a:gridCol w="432804"/>
                <a:gridCol w="30837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Req.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environments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array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dev │ staging │ production, per target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rolloutStrategy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enum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canary │ blue-green │ direct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compatibility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E7488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Minimum schema version this spec requires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B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changeHistoryRef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256"/>
                          </a:solidFill>
                        </a:rPr>
                        <a:t>Link to the version/change log for this agent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excerpt — not a complete specification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85855" cy="4709160"/>
          </a:xfrm>
          <a:prstGeom prst="roundRect">
            <a:avLst>
              <a:gd name="adj" fmla="val 1359"/>
            </a:avLst>
          </a:prstGeom>
          <a:solidFill>
            <a:srgbClr val="1016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1054577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specVersion: "0.1"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kyc-refresh-agent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version: 1.2.0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owner: retail-banking-platform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lifecycle: pilot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capabilities: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summarize-kyc-gaps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inputs:  { $ref: schemas/kyc-input.json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outputs: { $ref: schemas/kyc-gap-report.json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get-customer-profile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mcp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sideEffects: read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authRef: scopes.kyc-read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dataContracts: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source: core-banking-crm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classification: confidential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allowedOperations: [read]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retention: 90d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refusalConditions: [request_outside_kyc_scope]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maxAutonomySteps: 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humanInLoop: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checkpoints: [before_record_update]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overrideAuthority: role:compliance-officer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GENERATOR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Codegen pipeline: five stages from validated spec to target code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032345" cy="1965960"/>
          </a:xfrm>
          <a:prstGeom prst="roundRect">
            <a:avLst>
              <a:gd name="adj" fmla="val 3256"/>
            </a:avLst>
          </a:prstGeom>
          <a:solidFill>
            <a:srgbClr val="EAF1FD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1737360"/>
            <a:ext cx="17397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9224" y="2167128"/>
            <a:ext cx="1739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" y="2514600"/>
            <a:ext cx="173973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YAML/JSON, resolves $ref links, and builds an abstract syntax tree of the spec.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16977" y="24003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91297" y="1600200"/>
            <a:ext cx="2032345" cy="1965960"/>
          </a:xfrm>
          <a:prstGeom prst="roundRect">
            <a:avLst>
              <a:gd name="adj" fmla="val 3256"/>
            </a:avLst>
          </a:prstGeom>
          <a:solidFill>
            <a:srgbClr val="EAF1FD"/>
          </a:solidFill>
          <a:ln/>
        </p:spPr>
      </p:sp>
      <p:sp>
        <p:nvSpPr>
          <p:cNvPr id="10" name="Text 8"/>
          <p:cNvSpPr/>
          <p:nvPr/>
        </p:nvSpPr>
        <p:spPr>
          <a:xfrm>
            <a:off x="2937601" y="1737360"/>
            <a:ext cx="17397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37601" y="2167128"/>
            <a:ext cx="1739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37601" y="2514600"/>
            <a:ext cx="173973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AST against the JSON Schema and against business/compliance policy rules.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05355" y="24003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79675" y="1600200"/>
            <a:ext cx="2032345" cy="1965960"/>
          </a:xfrm>
          <a:prstGeom prst="roundRect">
            <a:avLst>
              <a:gd name="adj" fmla="val 3256"/>
            </a:avLst>
          </a:prstGeom>
          <a:solidFill>
            <a:srgbClr val="EAF1FD"/>
          </a:solidFill>
          <a:ln/>
        </p:spPr>
      </p:sp>
      <p:sp>
        <p:nvSpPr>
          <p:cNvPr id="15" name="Text 13"/>
          <p:cNvSpPr/>
          <p:nvPr/>
        </p:nvSpPr>
        <p:spPr>
          <a:xfrm>
            <a:off x="5225979" y="1737360"/>
            <a:ext cx="17397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25979" y="2167128"/>
            <a:ext cx="1739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Builder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225979" y="2514600"/>
            <a:ext cx="173973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the AST into a target-independent intermediate representation (IR).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93732" y="24003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68052" y="1600200"/>
            <a:ext cx="2032345" cy="1965960"/>
          </a:xfrm>
          <a:prstGeom prst="roundRect">
            <a:avLst>
              <a:gd name="adj" fmla="val 3256"/>
            </a:avLst>
          </a:prstGeom>
          <a:solidFill>
            <a:srgbClr val="141B4D"/>
          </a:solidFill>
          <a:ln/>
        </p:spPr>
      </p:sp>
      <p:sp>
        <p:nvSpPr>
          <p:cNvPr id="20" name="Text 18"/>
          <p:cNvSpPr/>
          <p:nvPr/>
        </p:nvSpPr>
        <p:spPr>
          <a:xfrm>
            <a:off x="7514356" y="1737360"/>
            <a:ext cx="17397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14356" y="2167128"/>
            <a:ext cx="1739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Engine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14356" y="2514600"/>
            <a:ext cx="173973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IR through per-target templates — the same pattern OpenAPI generators use.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382110" y="24003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656430" y="1600200"/>
            <a:ext cx="2032345" cy="1965960"/>
          </a:xfrm>
          <a:prstGeom prst="roundRect">
            <a:avLst>
              <a:gd name="adj" fmla="val 3256"/>
            </a:avLst>
          </a:prstGeom>
          <a:solidFill>
            <a:srgbClr val="EAF1FD"/>
          </a:solidFill>
          <a:ln/>
        </p:spPr>
      </p:sp>
      <p:sp>
        <p:nvSpPr>
          <p:cNvPr id="25" name="Text 23"/>
          <p:cNvSpPr/>
          <p:nvPr/>
        </p:nvSpPr>
        <p:spPr>
          <a:xfrm>
            <a:off x="9802734" y="1737360"/>
            <a:ext cx="17397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802734" y="2167128"/>
            <a:ext cx="1739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Packager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802734" y="2514600"/>
            <a:ext cx="173973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generated code, tests, docs, and deployment manifests into one project.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ADAPTERS (PLUGGABLE)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206240"/>
            <a:ext cx="2590724" cy="502920"/>
          </a:xfrm>
          <a:prstGeom prst="roundRect">
            <a:avLst>
              <a:gd name="adj" fmla="val 50909"/>
            </a:avLst>
          </a:prstGeom>
          <a:solidFill>
            <a:srgbClr val="EAF1FD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206240"/>
            <a:ext cx="25907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service scaffold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67964" y="4206240"/>
            <a:ext cx="2590724" cy="502920"/>
          </a:xfrm>
          <a:prstGeom prst="roundRect">
            <a:avLst>
              <a:gd name="adj" fmla="val 50909"/>
            </a:avLst>
          </a:prstGeom>
          <a:solidFill>
            <a:srgbClr val="EAF1FD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7964" y="4206240"/>
            <a:ext cx="25907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/ Node scaffold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33008" y="4206240"/>
            <a:ext cx="2590724" cy="502920"/>
          </a:xfrm>
          <a:prstGeom prst="roundRect">
            <a:avLst>
              <a:gd name="adj" fmla="val 50909"/>
            </a:avLst>
          </a:prstGeom>
          <a:solidFill>
            <a:srgbClr val="EAF1FD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3008" y="4206240"/>
            <a:ext cx="25907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Orchestration-framework adapter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098051" y="4206240"/>
            <a:ext cx="2590724" cy="502920"/>
          </a:xfrm>
          <a:prstGeom prst="roundRect">
            <a:avLst>
              <a:gd name="adj" fmla="val 50909"/>
            </a:avLst>
          </a:prstGeom>
          <a:solidFill>
            <a:srgbClr val="EAF1FD"/>
          </a:solidFill>
          <a:ln w="9525">
            <a:solidFill>
              <a:srgbClr val="D8DE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98051" y="4206240"/>
            <a:ext cx="25907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internal runtime adapter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GENERATOR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generator produces from a single validated spec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120640" cy="4663440"/>
          </a:xfrm>
          <a:prstGeom prst="roundRect">
            <a:avLst>
              <a:gd name="adj" fmla="val 1373"/>
            </a:avLst>
          </a:prstGeom>
          <a:solidFill>
            <a:srgbClr val="10163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4572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agent-kyc-refresh-agent/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spec/agent.spec.yaml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tools/            # generated tool bindings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prompts/           # rendered prompt templates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guardrails/        # policy enforcement hooks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memory/            # state store bindings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handlers/          # capability entry points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tests/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unit/              # generated from tool schemas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contract/          # tool schema vs. live endpoint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eval/              # behavioral eval scenarios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docs/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reference.html     # interactive spec explorer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deploy/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Dockerfile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manifest.yaml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CHANGELOG.md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35040" y="1554480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not boilerplate to copy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35040" y="1847088"/>
            <a:ext cx="5653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bindings, prompt assembly, and guardrail hooks are generated directly from the spec’s fields — not scaffolded by hand.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0" y="2724912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ship with the agent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0" y="3017520"/>
            <a:ext cx="5653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and eval tests are generated alongside the code, so every agent starts with a baseline of verifiable behavior.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0" y="3895344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stay in sync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0" y="4187952"/>
            <a:ext cx="5653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documentation is generated from the same spec, so it can never drift from what was actually built.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35040" y="5065776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is templated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35040" y="5358384"/>
            <a:ext cx="5653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and manifest files follow a standard pattern, so generated agents are consistent to operate.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GENERATOR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Extensibility: the generator adapts to new stacks without changing the spec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10048" cy="1600200"/>
          </a:xfrm>
          <a:prstGeom prst="roundRect">
            <a:avLst>
              <a:gd name="adj" fmla="val 4000"/>
            </a:avLst>
          </a:prstGeom>
          <a:solidFill>
            <a:srgbClr val="EAF1F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Adapter Plugins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495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interface (IR → files) lets new languages or runtimes be added without touching the parser, validator, or schema.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78728" y="1691640"/>
            <a:ext cx="5410048" cy="1600200"/>
          </a:xfrm>
          <a:prstGeom prst="roundRect">
            <a:avLst>
              <a:gd name="adj" fmla="val 4000"/>
            </a:avLst>
          </a:prstGeom>
          <a:solidFill>
            <a:srgbClr val="EAF1FD"/>
          </a:solidFill>
          <a:ln/>
        </p:spPr>
      </p:sp>
      <p:sp>
        <p:nvSpPr>
          <p:cNvPr id="8" name="Text 6"/>
          <p:cNvSpPr/>
          <p:nvPr/>
        </p:nvSpPr>
        <p:spPr>
          <a:xfrm>
            <a:off x="6507328" y="187452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 Connectors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07328" y="2240280"/>
            <a:ext cx="495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tool types beyond function / http / mcp can be registered through a connector SDK with its own schema and auth handling.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5410048" cy="1600200"/>
          </a:xfrm>
          <a:prstGeom prst="roundRect">
            <a:avLst>
              <a:gd name="adj" fmla="val 4000"/>
            </a:avLst>
          </a:prstGeom>
          <a:solidFill>
            <a:srgbClr val="EAF1F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4904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Providers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495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enforcement can call out to an internal policy service; the spec only declares intent, not implementation.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8728" y="3566160"/>
            <a:ext cx="5410048" cy="1600200"/>
          </a:xfrm>
          <a:prstGeom prst="roundRect">
            <a:avLst>
              <a:gd name="adj" fmla="val 4000"/>
            </a:avLst>
          </a:prstGeom>
          <a:solidFill>
            <a:srgbClr val="EAF1FD"/>
          </a:solidFill>
          <a:ln/>
        </p:spPr>
      </p:sp>
      <p:sp>
        <p:nvSpPr>
          <p:cNvPr id="14" name="Text 12"/>
          <p:cNvSpPr/>
          <p:nvPr/>
        </p:nvSpPr>
        <p:spPr>
          <a:xfrm>
            <a:off x="6507328" y="374904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Packs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07328" y="4114800"/>
            <a:ext cx="495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lines can maintain their own template pack (e.g. house code style, internal libraries) layered on the default templates.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spec and every generated agent passes the same quality gates</a:t>
            </a:r>
            <a:endParaRPr lang="en-US" sz="2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5855" cy="914400"/>
        </p:xfrm>
        <a:graphic>
          <a:graphicData uri="http://schemas.openxmlformats.org/drawingml/2006/table">
            <a:tbl>
              <a:tblPr/>
              <a:tblGrid>
                <a:gridCol w="2460888"/>
                <a:gridCol w="2013454"/>
                <a:gridCol w="6711513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Gate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Runs At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Confirms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</a:rPr>
                        <a:t>Schema validation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Spec authoring / CI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256"/>
                          </a:solidFill>
                        </a:rPr>
                        <a:t>The spec is structurally valid against the published JSON Schema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</a:rPr>
                        <a:t>Policy validation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Spec authoring / CI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256"/>
                          </a:solidFill>
                        </a:rPr>
                        <a:t>The spec complies with business and compliance rules (e.g. required guardrails for its data classification)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</a:rPr>
                        <a:t>Contract tests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Post-generation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256"/>
                          </a:solidFill>
                        </a:rPr>
                        <a:t>Each declared tool schema matches the behavior of its live endpoint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</a:rPr>
                        <a:t>Golden-file tests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Post-generation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256"/>
                          </a:solidFill>
                        </a:rPr>
                        <a:t>Generated code is diffed against an approved snapshot to catch unintended generator changes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</a:rPr>
                        <a:t>Behavioral eval suite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Pre-production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256"/>
                          </a:solidFill>
                        </a:rPr>
                        <a:t>The agent is scored against defined scenarios for each declared capability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B4D"/>
                          </a:solidFill>
                        </a:rPr>
                        <a:t>Guardrail enforcement tests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Pre-production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256"/>
                          </a:solidFill>
                        </a:rPr>
                        <a:t>Adversarial prompts confirm refusal conditions and autonomy limits hold at runtime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3949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 cannot reach production without clearing every gate — the same bar applies regardless of team or business line.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platform plugs into existing governance and operations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709160" y="1874520"/>
            <a:ext cx="6979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spec, and every version of it, is registered centrally — a searchable inventory of what agents exist and what they are authorized to 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807208"/>
            <a:ext cx="11185855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971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926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Gate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09160" y="2926080"/>
            <a:ext cx="6979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and policy validation run as a required check; a spec that fails validation cannot be merged or generated for deployment.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858768"/>
            <a:ext cx="11185855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023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709160" y="3977640"/>
            <a:ext cx="6979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compliance sign-off is captured against a specific spec version, not a general description of the agent.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910328"/>
            <a:ext cx="11185855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5074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5029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Telemetry Linkage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709160" y="5029200"/>
            <a:ext cx="6979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logs and traces carry the spec ID and version, so any agent action can be traced back to the contract that authorized it.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roadmap: workstreams, sequencing, and the team required</a:t>
            </a:r>
            <a:endParaRPr lang="en-US" sz="2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5855" cy="914400"/>
        </p:xfrm>
        <a:graphic>
          <a:graphicData uri="http://schemas.openxmlformats.org/drawingml/2006/table">
            <a:tbl>
              <a:tblPr/>
              <a:tblGrid>
                <a:gridCol w="2125312"/>
                <a:gridCol w="1342303"/>
                <a:gridCol w="4698059"/>
                <a:gridCol w="3020181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Workstream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Timing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Key Activities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Owner(s)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4D"/>
                          </a:solidFill>
                        </a:rPr>
                        <a:t>Schema &amp; Governance Design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Weeks 1–4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256"/>
                          </a:solidFill>
                        </a:rPr>
                        <a:t>Define schema, validation rules, and policy requirements with risk/compliance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256"/>
                          </a:solidFill>
                        </a:rPr>
                        <a:t>Spec Architect, Governance SME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4D"/>
                          </a:solidFill>
                        </a:rPr>
                        <a:t>Codegen Engine &amp; Adapters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Weeks 3–10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256"/>
                          </a:solidFill>
                        </a:rPr>
                        <a:t>Build parser, validator, IR, template engine, and first target adapter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256"/>
                          </a:solidFill>
                        </a:rPr>
                        <a:t>Platform Engineers (2)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4D"/>
                          </a:solidFill>
                        </a:rPr>
                        <a:t>Developer Tooling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Weeks 6–10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256"/>
                          </a:solidFill>
                        </a:rPr>
                        <a:t>CLI, editor plugin, local validation, and generated documentation site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256"/>
                          </a:solidFill>
                        </a:rPr>
                        <a:t>DevEx Engineer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4D"/>
                          </a:solidFill>
                        </a:rPr>
                        <a:t>Pilot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Weeks 10–14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256"/>
                          </a:solidFill>
                        </a:rPr>
                        <a:t>Apply to one to two priority agents; refine schema and templates from feedback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256"/>
                          </a:solidFill>
                        </a:rPr>
                        <a:t>Pilot Business SME, QA/Eval Engineer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4D"/>
                          </a:solidFill>
                        </a:rPr>
                        <a:t>Scale &amp; Enable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Weeks 14+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256"/>
                          </a:solidFill>
                        </a:rPr>
                        <a:t>Roll out to additional teams; integrate registry, CI/CD gate, and training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256"/>
                          </a:solidFill>
                        </a:rPr>
                        <a:t>Full team + adopting teams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3492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shown is planning-level and sequenced by workstream dependency, not calendar-committed dates.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to manage, and the immediate next steps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10048" cy="777240"/>
          </a:xfrm>
          <a:prstGeom prst="roundRect">
            <a:avLst>
              <a:gd name="adj" fmla="val 7059"/>
            </a:avLst>
          </a:prstGeom>
          <a:solidFill>
            <a:srgbClr val="EAF1F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93392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scope creep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267712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versioning and a defined change-control process for the schema itself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816352"/>
            <a:ext cx="5410048" cy="777240"/>
          </a:xfrm>
          <a:prstGeom prst="roundRect">
            <a:avLst>
              <a:gd name="adj" fmla="val 7059"/>
            </a:avLst>
          </a:prstGeom>
          <a:solidFill>
            <a:srgbClr val="EAF1F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89504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quality gaps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163824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Golden-file tests plus a mandatory human review gate before production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712464"/>
            <a:ext cx="5410048" cy="777240"/>
          </a:xfrm>
          <a:prstGeom prst="roundRect">
            <a:avLst>
              <a:gd name="adj" fmla="val 7059"/>
            </a:avLst>
          </a:prstGeom>
          <a:solidFill>
            <a:srgbClr val="EAF1F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785616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bypassed at runtime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4059936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lives in the runtime, not only spec-time checks, with audit logging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4608576"/>
            <a:ext cx="5410048" cy="777240"/>
          </a:xfrm>
          <a:prstGeom prst="roundRect">
            <a:avLst>
              <a:gd name="adj" fmla="val 7059"/>
            </a:avLst>
          </a:prstGeom>
          <a:solidFill>
            <a:srgbClr val="EAF1F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681728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adoption across teams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4956048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DevEx tooling and a visible pilot success case before broader rollout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78728" y="1508760"/>
            <a:ext cx="5410048" cy="3794760"/>
          </a:xfrm>
          <a:prstGeom prst="roundRect">
            <a:avLst>
              <a:gd name="adj" fmla="val 1928"/>
            </a:avLst>
          </a:prstGeom>
          <a:solidFill>
            <a:srgbClr val="141B4D"/>
          </a:solidFill>
          <a:ln/>
        </p:spPr>
      </p:sp>
      <p:sp>
        <p:nvSpPr>
          <p:cNvPr id="18" name="Text 16"/>
          <p:cNvSpPr/>
          <p:nvPr/>
        </p:nvSpPr>
        <p:spPr>
          <a:xfrm>
            <a:off x="6553048" y="1737360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53048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64528" y="2185416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Ratify the schema (v0.1)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64528" y="246888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field coverage in this document with architecture and compliance.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53048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64528" y="2962656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validator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64528" y="324612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schema + policy validation as the first working component.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53048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64528" y="3739896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target adapter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64528" y="402336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pipeline end-to-end with a single target stack before adding more.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53048" y="4544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64528" y="4517136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pilot agent(s)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964528" y="480060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one to two candidates that exercise most of the schema's sections.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Specification — Design Document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2026-07-25T01:17:17Z</dcterms:created>
  <dcterms:modified xsi:type="dcterms:W3CDTF">2026-07-25T01:17:17Z</dcterms:modified>
</cp:coreProperties>
</file>